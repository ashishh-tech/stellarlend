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410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"/>
            <a:ext cx="12192000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4937760" y="365760"/>
            <a:ext cx="2286000" cy="2286000"/>
          </a:xfrm>
          <a:prstGeom prst="ellipse">
            <a:avLst/>
          </a:prstGeom>
          <a:solidFill>
            <a:srgbClr val="00D4AA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394960" y="868680"/>
            <a:ext cx="1371600" cy="1371600"/>
          </a:xfrm>
          <a:prstGeom prst="ellipse">
            <a:avLst/>
          </a:prstGeom>
          <a:solidFill>
            <a:srgbClr val="00D4AA">
              <a:alpha val="80000"/>
            </a:srgbClr>
          </a:solidFill>
          <a:ln/>
        </p:spPr>
        <p:txBody>
          <a:bodyPr/>
          <a:lstStyle/>
          <a:p>
            <a:r>
              <a:rPr lang="en-US" sz="5400" dirty="0"/>
              <a:t>  </a:t>
            </a:r>
            <a:r>
              <a:rPr lang="en-US" sz="4800" dirty="0"/>
              <a:t>S</a:t>
            </a:r>
            <a:endParaRPr lang="en-IN" sz="5400" dirty="0"/>
          </a:p>
        </p:txBody>
      </p:sp>
      <p:sp>
        <p:nvSpPr>
          <p:cNvPr id="5" name="Text 3"/>
          <p:cNvSpPr/>
          <p:nvPr/>
        </p:nvSpPr>
        <p:spPr>
          <a:xfrm>
            <a:off x="5394960" y="100584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371600" y="2651760"/>
            <a:ext cx="9418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StellarLend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371600" y="352044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D4AA"/>
                </a:solidFill>
              </a:rPr>
              <a:t>Decentralized P2P Lending on Stellar Blockchain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71600" y="4160520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CA3AF"/>
                </a:solidFill>
              </a:rPr>
              <a:t>Trustless · Transparent · Low-Cost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60320" y="4846320"/>
            <a:ext cx="2103120" cy="347472"/>
          </a:xfrm>
          <a:prstGeom prst="roundRect">
            <a:avLst>
              <a:gd name="adj" fmla="val 26316"/>
            </a:avLst>
          </a:prstGeom>
          <a:solidFill>
            <a:srgbClr val="00D4AA">
              <a:alpha val="2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48463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AA"/>
                </a:solidFill>
              </a:rPr>
              <a:t>Soroban Smart Contracts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166360" y="4846320"/>
            <a:ext cx="2103120" cy="347472"/>
          </a:xfrm>
          <a:prstGeom prst="roundRect">
            <a:avLst>
              <a:gd name="adj" fmla="val 26316"/>
            </a:avLst>
          </a:prstGeom>
          <a:solidFill>
            <a:srgbClr val="00D4AA">
              <a:alpha val="2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166360" y="48463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AA"/>
                </a:solidFill>
              </a:rPr>
              <a:t>Next.js Frontend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06640" y="4846320"/>
            <a:ext cx="2103120" cy="347472"/>
          </a:xfrm>
          <a:prstGeom prst="roundRect">
            <a:avLst>
              <a:gd name="adj" fmla="val 26316"/>
            </a:avLst>
          </a:prstGeom>
          <a:solidFill>
            <a:srgbClr val="00D4AA">
              <a:alpha val="2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7406640" y="48463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AA"/>
                </a:solidFill>
              </a:rPr>
              <a:t>Freighter Wallet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71600" y="612648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</a:rPr>
              <a:t>Ashish Chaurasia  |  Narula Institute of Technology  |  github.com/ashishh-tech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D4AA"/>
                </a:solidFill>
              </a:rPr>
              <a:t>Traditional lending is broken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5394960" cy="1645920"/>
          </a:xfrm>
          <a:prstGeom prst="roundRect">
            <a:avLst>
              <a:gd name="adj" fmla="val 8333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🏦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169164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High Intermediary Costs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210312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</a:rPr>
              <a:t>Banks charge 3–8% fees on every loan transaction, eating into both lender yields and borrower savings.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508760"/>
            <a:ext cx="5394960" cy="1645920"/>
          </a:xfrm>
          <a:prstGeom prst="roundRect">
            <a:avLst>
              <a:gd name="adj" fmla="val 8333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223760" y="169164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Opaque Processes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23760" y="210312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</a:rPr>
              <a:t>Loan decisions happen in black boxes — no transparency on how rates are set or funds are used.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520440"/>
            <a:ext cx="5394960" cy="1645920"/>
          </a:xfrm>
          <a:prstGeom prst="roundRect">
            <a:avLst>
              <a:gd name="adj" fmla="val 8333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703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🌍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371600" y="37033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Financial Exclusion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411480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</a:rPr>
              <a:t>1.4 billion adults remain unbanked globally, locked out of traditional lending infrastructure.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3520440"/>
            <a:ext cx="5394960" cy="1645920"/>
          </a:xfrm>
          <a:prstGeom prst="roundRect">
            <a:avLst>
              <a:gd name="adj" fmla="val 8333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3703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⏳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223760" y="37033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Slow Settlement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223760" y="411480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</a:rPr>
              <a:t>Wire transfers and loan disbursements take 2–5 business days through legacy banking rails.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Our Solution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D4AA"/>
                </a:solidFill>
              </a:rPr>
              <a:t>StellarLend — P2P Lending without intermediaries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937760" y="1645920"/>
            <a:ext cx="2286000" cy="2286000"/>
          </a:xfrm>
          <a:prstGeom prst="ellipse">
            <a:avLst/>
          </a:prstGeom>
          <a:solidFill>
            <a:srgbClr val="00D4AA">
              <a:alpha val="1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937760" y="2331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AA"/>
                </a:solidFill>
              </a:rPr>
              <a:t>StellarLend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3474720" cy="1005840"/>
          </a:xfrm>
          <a:prstGeom prst="roundRect">
            <a:avLst>
              <a:gd name="adj" fmla="val 13636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965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4AA"/>
                </a:solidFill>
              </a:rPr>
              <a:t>No Middlemen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331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</a:rPr>
              <a:t>Direct lender↔borrower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3200400"/>
            <a:ext cx="3474720" cy="1005840"/>
          </a:xfrm>
          <a:prstGeom prst="roundRect">
            <a:avLst>
              <a:gd name="adj" fmla="val 13636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4AA"/>
                </a:solidFill>
              </a:rPr>
              <a:t>On-Chain Logic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3703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</a:rPr>
              <a:t>Soroban smart contracts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1828800"/>
            <a:ext cx="3474720" cy="1005840"/>
          </a:xfrm>
          <a:prstGeom prst="roundRect">
            <a:avLst>
              <a:gd name="adj" fmla="val 13636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4AA"/>
                </a:solidFill>
              </a:rPr>
              <a:t>Sub-second Finality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2331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</a:rPr>
              <a:t>Stellar network speed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38160" y="3200400"/>
            <a:ext cx="3474720" cy="1005840"/>
          </a:xfrm>
          <a:prstGeom prst="roundRect">
            <a:avLst>
              <a:gd name="adj" fmla="val 13636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2104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4AA"/>
                </a:solidFill>
              </a:rPr>
              <a:t>Near-Zero Fees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21040" y="3703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</a:rPr>
              <a:t>0.00001 XLM per tx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754880"/>
            <a:ext cx="11247120" cy="731520"/>
          </a:xfrm>
          <a:prstGeom prst="roundRect">
            <a:avLst>
              <a:gd name="adj" fmla="val 18750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" y="47548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🚀  Built on Stellar Testnet · Deployed · Live · Open Source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How It Works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D4AA"/>
                </a:solidFill>
              </a:rPr>
              <a:t>4 simple steps on-chain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51760" cy="4114800"/>
          </a:xfrm>
          <a:prstGeom prst="roundRect">
            <a:avLst>
              <a:gd name="adj" fmla="val 5172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548640" cy="548640"/>
          </a:xfrm>
          <a:prstGeom prst="ellipse">
            <a:avLst/>
          </a:prstGeom>
          <a:solidFill>
            <a:srgbClr val="00D4AA">
              <a:alpha val="8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🔗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02920" y="31089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Connect Wallet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56616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</a:rPr>
              <a:t>User connects Freighter wallet to StellarLend frontend. No signup, no KYC — just your Stellar address.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1463040"/>
            <a:ext cx="2651760" cy="4114800"/>
          </a:xfrm>
          <a:prstGeom prst="roundRect">
            <a:avLst>
              <a:gd name="adj" fmla="val 5172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29000" y="1645920"/>
            <a:ext cx="548640" cy="548640"/>
          </a:xfrm>
          <a:prstGeom prst="ellipse">
            <a:avLst/>
          </a:prstGeom>
          <a:solidFill>
            <a:srgbClr val="00D4AA">
              <a:alpha val="8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94760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💰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383280" y="31089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Deposit / Supply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383280" y="356616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</a:rPr>
              <a:t>Lenders deposit XLM or USDC into the Soroban smart contract pool. Earn yield automatically.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463040"/>
            <a:ext cx="2651760" cy="4114800"/>
          </a:xfrm>
          <a:prstGeom prst="roundRect">
            <a:avLst>
              <a:gd name="adj" fmla="val 5172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1645920"/>
            <a:ext cx="548640" cy="548640"/>
          </a:xfrm>
          <a:prstGeom prst="ellipse">
            <a:avLst/>
          </a:prstGeom>
          <a:solidFill>
            <a:srgbClr val="00D4AA">
              <a:alpha val="8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📤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263640" y="31089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Borrow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63640" y="356616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</a:rPr>
              <a:t>Borrowers submit collateral and receive funds instantly. Smart contract enforces repayment terms.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1463040"/>
            <a:ext cx="2651760" cy="4114800"/>
          </a:xfrm>
          <a:prstGeom prst="roundRect">
            <a:avLst>
              <a:gd name="adj" fmla="val 5172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89720" y="1645920"/>
            <a:ext cx="548640" cy="548640"/>
          </a:xfrm>
          <a:prstGeom prst="ellipse">
            <a:avLst/>
          </a:prstGeom>
          <a:solidFill>
            <a:srgbClr val="00D4AA">
              <a:alpha val="8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918972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555480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✅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9144000" y="31089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Repay &amp; Withdraw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144000" y="356616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</a:rPr>
              <a:t>Borrowers repay with interest. Lenders withdraw principal + yield anytime from the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Tech Stack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D4AA"/>
                </a:solidFill>
              </a:rPr>
              <a:t>Production-grade architecture on Stellar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3566160" cy="4572000"/>
          </a:xfrm>
          <a:prstGeom prst="roundRect">
            <a:avLst>
              <a:gd name="adj" fmla="val 3846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3200400" cy="411480"/>
          </a:xfrm>
          <a:prstGeom prst="roundRect">
            <a:avLst>
              <a:gd name="adj" fmla="val 17778"/>
            </a:avLst>
          </a:prstGeom>
          <a:solidFill>
            <a:srgbClr val="6366F1">
              <a:alpha val="2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366F1"/>
                </a:solidFill>
              </a:rPr>
              <a:t>Frontend Layer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286000"/>
            <a:ext cx="109728" cy="109728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21284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Next.js 14 (App Router)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3035808"/>
            <a:ext cx="109728" cy="109728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962656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Glassmorphism UI Design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3785616"/>
            <a:ext cx="109728" cy="109728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712464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Freighter Wallet Integration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4535424"/>
            <a:ext cx="109728" cy="109728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462272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Real-time Horizon API polling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51960" y="1463040"/>
            <a:ext cx="3566160" cy="4572000"/>
          </a:xfrm>
          <a:prstGeom prst="roundRect">
            <a:avLst>
              <a:gd name="adj" fmla="val 3846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34840" y="1645920"/>
            <a:ext cx="3200400" cy="411480"/>
          </a:xfrm>
          <a:prstGeom prst="roundRect">
            <a:avLst>
              <a:gd name="adj" fmla="val 17778"/>
            </a:avLst>
          </a:prstGeom>
          <a:solidFill>
            <a:srgbClr val="00D4AA">
              <a:alpha val="2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434840" y="1645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4AA"/>
                </a:solidFill>
              </a:rPr>
              <a:t>Smart Contract Layer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80560" y="2286000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221284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Rust + Soroban SDK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480560" y="3035808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2962656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deposit(), withdraw(), borrow(), repay()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480560" y="3785616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4" name="Text 22"/>
          <p:cNvSpPr/>
          <p:nvPr/>
        </p:nvSpPr>
        <p:spPr>
          <a:xfrm>
            <a:off x="4709160" y="3712464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On-chain state management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80560" y="4535424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4462272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Event emission for UI updates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38160" y="1463040"/>
            <a:ext cx="3566160" cy="4572000"/>
          </a:xfrm>
          <a:prstGeom prst="roundRect">
            <a:avLst>
              <a:gd name="adj" fmla="val 3846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321040" y="1645920"/>
            <a:ext cx="3200400" cy="411480"/>
          </a:xfrm>
          <a:prstGeom prst="roundRect">
            <a:avLst>
              <a:gd name="adj" fmla="val 17778"/>
            </a:avLst>
          </a:prstGeom>
          <a:solidFill>
            <a:srgbClr val="10B981">
              <a:alpha val="2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8321040" y="1645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</a:rPr>
              <a:t>Infrastructure Layer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366760" y="228600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1" name="Text 29"/>
          <p:cNvSpPr/>
          <p:nvPr/>
        </p:nvSpPr>
        <p:spPr>
          <a:xfrm>
            <a:off x="8595360" y="2212848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Stellar Testnet deployment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366760" y="3035808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8595360" y="2962656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Netlify (frontend hosting)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366760" y="3785616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8595360" y="3712464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GitHub Actions CI/CD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366760" y="4535424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7" name="Text 35"/>
          <p:cNvSpPr/>
          <p:nvPr/>
        </p:nvSpPr>
        <p:spPr>
          <a:xfrm>
            <a:off x="8595360" y="4462272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Stellar Expert monitoring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Traction &amp; Impact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D4AA"/>
                </a:solidFill>
              </a:rPr>
              <a:t>Real usage on Stellar Testnet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06040" cy="201168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60020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📦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4AA"/>
                </a:solidFill>
              </a:rPr>
              <a:t>201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Repo Clones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</a:rPr>
              <a:t>in 14 days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06040" cy="201168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37560" y="160020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👥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337560" y="2148840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4AA"/>
                </a:solidFill>
              </a:rPr>
              <a:t>74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337560" y="27432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Unique Cloners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37560" y="30632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</a:rPr>
              <a:t>developers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463040"/>
            <a:ext cx="2606040" cy="201168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17920" y="160020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⭐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17920" y="2148840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4AA"/>
                </a:solidFill>
              </a:rPr>
              <a:t>4.8/5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217920" y="27432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UI/UX Rating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17920" y="30632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</a:rPr>
              <a:t>user feedback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006840" y="1463040"/>
            <a:ext cx="2606040" cy="201168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098280" y="160020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098280" y="2148840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4AA"/>
                </a:solidFill>
              </a:rPr>
              <a:t>83%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098280" y="274320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Mainnet Interest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98280" y="30632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</a:rPr>
              <a:t>would use on mainnet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749040"/>
            <a:ext cx="11247120" cy="22860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" y="3886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4AA"/>
                </a:solidFill>
              </a:rPr>
              <a:t>📊  User Feedback Highlights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0080" y="4343400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✅  "Clean UI, smooth borrow/supply experience"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4727448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✅  "Very easy to connect Freighter wallet"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5111496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</a:rPr>
              <a:t>⚠️  "Transaction hash not visible after completion" — being fixed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5495544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</a:rPr>
              <a:t>⚠️  "Close button on Borrow modal needs improvement" — being fixed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Roadmap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D4AA"/>
                </a:solidFill>
              </a:rPr>
              <a:t>From Testnet MVP to Mainnet Product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3566160" cy="4937760"/>
          </a:xfrm>
          <a:prstGeom prst="roundRect">
            <a:avLst>
              <a:gd name="adj" fmla="val 3846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6002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Phase 1 — MVP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1645920" cy="292608"/>
          </a:xfrm>
          <a:prstGeom prst="roundRect">
            <a:avLst>
              <a:gd name="adj" fmla="val 25000"/>
            </a:avLst>
          </a:prstGeom>
          <a:solidFill>
            <a:srgbClr val="00D4AA">
              <a:alpha val="2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031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D4AA"/>
                </a:solidFill>
              </a:rPr>
              <a:t>DONE 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2606040"/>
            <a:ext cx="91440" cy="914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542032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Soroban smart contract deployed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3172968"/>
            <a:ext cx="91440" cy="914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108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deposit / borrow / repay / withdraw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" y="3739896"/>
            <a:ext cx="91440" cy="914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675888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Freighter wallet integration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" y="4306824"/>
            <a:ext cx="91440" cy="914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42816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Live on Stellar Testnet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4360" y="4873752"/>
            <a:ext cx="91440" cy="914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809744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CI/CD pipeline setup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51960" y="1463040"/>
            <a:ext cx="3566160" cy="4937760"/>
          </a:xfrm>
          <a:prstGeom prst="roundRect">
            <a:avLst>
              <a:gd name="adj" fmla="val 3846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434840" y="16002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Phase 2 — Growth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434840" y="2103120"/>
            <a:ext cx="1645920" cy="292608"/>
          </a:xfrm>
          <a:prstGeom prst="roundRect">
            <a:avLst>
              <a:gd name="adj" fmla="val 25000"/>
            </a:avLst>
          </a:prstGeom>
          <a:solidFill>
            <a:srgbClr val="6366F1">
              <a:alpha val="25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434840" y="21031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</a:rPr>
              <a:t>IN PROGRESS 🔄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80560" y="2606040"/>
            <a:ext cx="91440" cy="914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4" name="Text 22"/>
          <p:cNvSpPr/>
          <p:nvPr/>
        </p:nvSpPr>
        <p:spPr>
          <a:xfrm>
            <a:off x="4709160" y="2542032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Multi-asset support (XLM + USDC)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480560" y="3172968"/>
            <a:ext cx="91440" cy="914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3108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Dynamic interest rate model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480560" y="3739896"/>
            <a:ext cx="91440" cy="914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3675888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Fix modal UX issues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480560" y="4306824"/>
            <a:ext cx="91440" cy="914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30" name="Text 28"/>
          <p:cNvSpPr/>
          <p:nvPr/>
        </p:nvSpPr>
        <p:spPr>
          <a:xfrm>
            <a:off x="4709160" y="4242816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50+ user onboarding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480560" y="4873752"/>
            <a:ext cx="91440" cy="914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32" name="Text 30"/>
          <p:cNvSpPr/>
          <p:nvPr/>
        </p:nvSpPr>
        <p:spPr>
          <a:xfrm>
            <a:off x="4709160" y="4809744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Pitch deck &amp; community outreach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138160" y="1463040"/>
            <a:ext cx="3566160" cy="4937760"/>
          </a:xfrm>
          <a:prstGeom prst="roundRect">
            <a:avLst>
              <a:gd name="adj" fmla="val 3846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321040" y="16002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Phase 3 — Mainnet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321040" y="2103120"/>
            <a:ext cx="1645920" cy="292608"/>
          </a:xfrm>
          <a:prstGeom prst="roundRect">
            <a:avLst>
              <a:gd name="adj" fmla="val 25000"/>
            </a:avLst>
          </a:prstGeom>
          <a:solidFill>
            <a:srgbClr val="6B7280">
              <a:alpha val="25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8321040" y="21031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7280"/>
                </a:solidFill>
              </a:rPr>
              <a:t>PLANNED 🎯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366760" y="2606040"/>
            <a:ext cx="91440" cy="9144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38" name="Text 36"/>
          <p:cNvSpPr/>
          <p:nvPr/>
        </p:nvSpPr>
        <p:spPr>
          <a:xfrm>
            <a:off x="8595360" y="2542032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Smart contract security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366760" y="3172968"/>
            <a:ext cx="91440" cy="9144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40" name="Text 38"/>
          <p:cNvSpPr/>
          <p:nvPr/>
        </p:nvSpPr>
        <p:spPr>
          <a:xfrm>
            <a:off x="8595360" y="31089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Mainnet deployment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366760" y="3739896"/>
            <a:ext cx="91440" cy="9144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42" name="Text 40"/>
          <p:cNvSpPr/>
          <p:nvPr/>
        </p:nvSpPr>
        <p:spPr>
          <a:xfrm>
            <a:off x="8595360" y="3675888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Collateral &amp; liquidation system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366760" y="4306824"/>
            <a:ext cx="91440" cy="9144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44" name="Text 42"/>
          <p:cNvSpPr/>
          <p:nvPr/>
        </p:nvSpPr>
        <p:spPr>
          <a:xfrm>
            <a:off x="8595360" y="4242816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Governance for rate parameters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366760" y="4873752"/>
            <a:ext cx="91440" cy="9144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46" name="Text 44"/>
          <p:cNvSpPr/>
          <p:nvPr/>
        </p:nvSpPr>
        <p:spPr>
          <a:xfrm>
            <a:off x="8595360" y="4809744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5E7EB"/>
                </a:solidFill>
              </a:rPr>
              <a:t>Mobile app (React Native)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Why Stellar?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D4AA"/>
                </a:solidFill>
              </a:rPr>
              <a:t>The ideal blockchain for DeFi lending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3566160" cy="201168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3-5 Second Finality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</a:rPr>
              <a:t>Transactions confirm in under 5 seconds — critical for real-time lending operations and user experience.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1960" y="1463040"/>
            <a:ext cx="3566160" cy="201168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8912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💸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120640" y="164592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Near-Zero Fees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89120" y="22402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</a:rPr>
              <a:t>Base fee of 0.00001 XLM makes frequent interest accrual updates and liquidation checks economically viable.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38160" y="1463040"/>
            <a:ext cx="3566160" cy="201168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🔧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006840" y="164592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Soroban Smart Contracts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75320" y="22402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</a:rPr>
              <a:t>Rust-based Soroban SDK enables safe, auditable, production-ready financial contract logic.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840480"/>
            <a:ext cx="3566160" cy="201168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4023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234440" y="402336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Native Asset Support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461772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</a:rPr>
              <a:t>Stellar Asset Contracts (SAC) allow XLM, USDC, and any Stellar token as collateral without bridges.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51960" y="3840480"/>
            <a:ext cx="3566160" cy="201168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389120" y="4023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🏛️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120640" y="402336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SEP Standards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389120" y="461772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</a:rPr>
              <a:t>Stellar Ecosystem Proposals provide standardized anchor integrations for fiat on/off ramps.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38160" y="3840480"/>
            <a:ext cx="3566160" cy="201168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75320" y="4023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📈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9006840" y="402336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Growing Ecosystem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275320" y="461772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</a:rPr>
              <a:t>$20,000 builder sprint, active developer grants, and a global community supporting builders.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Builder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D4AA"/>
                </a:solidFill>
              </a:rPr>
              <a:t>First-year student building production-grade Web3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480560" y="1463040"/>
            <a:ext cx="3200400" cy="3200400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480560" y="146304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00D4AA"/>
                </a:solidFill>
              </a:rPr>
              <a:t>AC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1371600" y="475488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Ashish Chaurasia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530352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CA3AF"/>
                </a:solidFill>
              </a:rPr>
              <a:t>B.Tech CSE (2025–2029)  |  Narula Institute of Technology, Kolkata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011680" y="5806440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00D4AA">
              <a:alpha val="1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58064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AA"/>
                </a:solidFill>
              </a:rPr>
              <a:t>Rust / Soroban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5806440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00D4AA">
              <a:alpha val="1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58064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AA"/>
                </a:solidFill>
              </a:rPr>
              <a:t>React / Next.js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98080" y="5806440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00D4AA">
              <a:alpha val="1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58064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AA"/>
                </a:solidFill>
              </a:rPr>
              <a:t>Python / C++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011680" y="6217920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00D4AA">
              <a:alpha val="1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2011680" y="621792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AA"/>
                </a:solidFill>
              </a:rPr>
              <a:t>IoT / Arduino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6217920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00D4AA">
              <a:alpha val="1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621792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AA"/>
                </a:solidFill>
              </a:rPr>
              <a:t>Web3 / DeFi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98080" y="6217920"/>
            <a:ext cx="2286000" cy="292608"/>
          </a:xfrm>
          <a:prstGeom prst="roundRect">
            <a:avLst>
              <a:gd name="adj" fmla="val 25000"/>
            </a:avLst>
          </a:prstGeom>
          <a:solidFill>
            <a:srgbClr val="00D4AA">
              <a:alpha val="1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0" y="621792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D4AA"/>
                </a:solidFill>
              </a:rPr>
              <a:t>CI/CD / DevOps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457200"/>
            <a:ext cx="5760720" cy="5760720"/>
          </a:xfrm>
          <a:prstGeom prst="ellipse">
            <a:avLst/>
          </a:prstGeom>
          <a:solidFill>
            <a:srgbClr val="00D4AA">
              <a:alpha val="7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7315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</a:rPr>
              <a:t>Try StellarLend Today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D4AA"/>
                </a:solidFill>
              </a:rPr>
              <a:t>Live on Stellar Testnet · Open Source · Free to use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2377440"/>
            <a:ext cx="4846320" cy="685800"/>
          </a:xfrm>
          <a:prstGeom prst="roundRect">
            <a:avLst>
              <a:gd name="adj" fmla="val 20000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24231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🌐  Live App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560320" y="242316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</a:rPr>
              <a:t>stellarlendmastery-demo.netlify.app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2377440"/>
            <a:ext cx="4846320" cy="685800"/>
          </a:xfrm>
          <a:prstGeom prst="roundRect">
            <a:avLst>
              <a:gd name="adj" fmla="val 20000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242316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💻  GitHub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0" y="242316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</a:rPr>
              <a:t>github.com/ashishh-tech/Stellar-Peer-to-Peer-Lending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383280"/>
            <a:ext cx="4846320" cy="685800"/>
          </a:xfrm>
          <a:prstGeom prst="roundRect">
            <a:avLst>
              <a:gd name="adj" fmla="val 20000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97280" y="342900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🔍  Contract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60320" y="34290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</a:rPr>
              <a:t>stellar.expert/explorer/testnet/contract/CDSYUI...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383280"/>
            <a:ext cx="4846320" cy="685800"/>
          </a:xfrm>
          <a:prstGeom prst="roundRect">
            <a:avLst>
              <a:gd name="adj" fmla="val 20000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0" y="342900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📊  Feedback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046720" y="342900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</a:rPr>
              <a:t>docs.google.com/spreadsheets/d/12jBf8IAJ...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572000"/>
            <a:ext cx="11247120" cy="118872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/>
          <a:effectLst>
            <a:outerShdw blurRad="127000" dist="50800" dir="162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" y="4663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🏆  Achievements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50749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5E7EB"/>
                </a:solidFill>
              </a:rPr>
              <a:t>⚪ White Belt ✅     🟡 Yellow Belt ✅     🟠 Orange Belt ✅  (+$50 Prize)     🟢 Green Belt ✅     🔵 Blue Belt → In Progress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766</Words>
  <Application>Microsoft Office PowerPoint</Application>
  <PresentationFormat>Widescreen</PresentationFormat>
  <Paragraphs>168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Ashish Chaurasia</cp:lastModifiedBy>
  <cp:revision>2</cp:revision>
  <dcterms:created xsi:type="dcterms:W3CDTF">2026-07-19T03:26:41Z</dcterms:created>
  <dcterms:modified xsi:type="dcterms:W3CDTF">2026-07-20T05:52:58Z</dcterms:modified>
</cp:coreProperties>
</file>